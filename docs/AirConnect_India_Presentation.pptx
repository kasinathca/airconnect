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3b8538477a410d" /><Relationship Type="http://schemas.openxmlformats.org/officeDocument/2006/relationships/extended-properties" Target="/docProps/app.xml" Id="R7e8a461ff8064ecd" /><Relationship Type="http://schemas.openxmlformats.org/officeDocument/2006/relationships/officeDocument" Target="/ppt/presentation.xml" Id="R5ab8841634a24b4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0a9af53ac04273"/>
  </p:sldMasterIdLst>
  <p:notesMasterIdLst>
    <p:notesMasterId xmlns:r="http://schemas.openxmlformats.org/officeDocument/2006/relationships" r:id="R9b4a776de19e4a3e"/>
  </p:notesMasterIdLst>
  <p:sldIdLst>
    <p:sldId xmlns:r="http://schemas.openxmlformats.org/officeDocument/2006/relationships" id="256" r:id="Rfee3452452e94ed2"/>
    <p:sldId xmlns:r="http://schemas.openxmlformats.org/officeDocument/2006/relationships" id="257" r:id="Raff8f08135d34eff"/>
    <p:sldId xmlns:r="http://schemas.openxmlformats.org/officeDocument/2006/relationships" id="258" r:id="Rbf32d956a0814a5c"/>
    <p:sldId xmlns:r="http://schemas.openxmlformats.org/officeDocument/2006/relationships" id="259" r:id="R0cb6d86e5f074411"/>
    <p:sldId xmlns:r="http://schemas.openxmlformats.org/officeDocument/2006/relationships" id="260" r:id="R0a2dde2f9d484d11"/>
    <p:sldId xmlns:r="http://schemas.openxmlformats.org/officeDocument/2006/relationships" id="261" r:id="Rd76076f7ccae4e02"/>
    <p:sldId xmlns:r="http://schemas.openxmlformats.org/officeDocument/2006/relationships" id="262" r:id="R0f1352351b854a54"/>
    <p:sldId xmlns:r="http://schemas.openxmlformats.org/officeDocument/2006/relationships" id="263" r:id="R309b905aba0b427a"/>
    <p:sldId xmlns:r="http://schemas.openxmlformats.org/officeDocument/2006/relationships" id="264" r:id="Rd62929f002874bd1"/>
    <p:sldId xmlns:r="http://schemas.openxmlformats.org/officeDocument/2006/relationships" id="265" r:id="Rc42071a996ba4f89"/>
    <p:sldId xmlns:r="http://schemas.openxmlformats.org/officeDocument/2006/relationships" id="266" r:id="Rfb7ef4fd6f8845f7"/>
    <p:sldId xmlns:r="http://schemas.openxmlformats.org/officeDocument/2006/relationships" id="267" r:id="R46a38f4f56a3418d"/>
    <p:sldId xmlns:r="http://schemas.openxmlformats.org/officeDocument/2006/relationships" id="268" r:id="R45ec526e5eff4bc7"/>
    <p:sldId xmlns:r="http://schemas.openxmlformats.org/officeDocument/2006/relationships" id="269" r:id="Rc321d2a8ffb24934"/>
    <p:sldId xmlns:r="http://schemas.openxmlformats.org/officeDocument/2006/relationships" id="270" r:id="R20dee17d762949b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03f9e80299451a" /><Relationship Type="http://schemas.openxmlformats.org/officeDocument/2006/relationships/slideMaster" Target="/ppt/slideMasters/slideMaster1.xml" Id="Re50a9af53ac04273" /><Relationship Type="http://schemas.openxmlformats.org/officeDocument/2006/relationships/notesMaster" Target="/ppt/notesMasters/notesMaster1.xml" Id="R9b4a776de19e4a3e" /><Relationship Type="http://schemas.openxmlformats.org/officeDocument/2006/relationships/presProps" Target="/ppt/presProps.xml" Id="R6d953f9f9a85456c" /><Relationship Type="http://schemas.openxmlformats.org/officeDocument/2006/relationships/tableStyles" Target="/ppt/tableStyles.xml" Id="Rcb89deb1329b4fce" /><Relationship Type="http://schemas.openxmlformats.org/officeDocument/2006/relationships/slide" Target="/ppt/slides/slide1.xml" Id="Rfee3452452e94ed2" /><Relationship Type="http://schemas.openxmlformats.org/officeDocument/2006/relationships/slide" Target="/ppt/slides/slide2.xml" Id="Raff8f08135d34eff" /><Relationship Type="http://schemas.openxmlformats.org/officeDocument/2006/relationships/slide" Target="/ppt/slides/slide3.xml" Id="Rbf32d956a0814a5c" /><Relationship Type="http://schemas.openxmlformats.org/officeDocument/2006/relationships/slide" Target="/ppt/slides/slide4.xml" Id="R0cb6d86e5f074411" /><Relationship Type="http://schemas.openxmlformats.org/officeDocument/2006/relationships/slide" Target="/ppt/slides/slide5.xml" Id="R0a2dde2f9d484d11" /><Relationship Type="http://schemas.openxmlformats.org/officeDocument/2006/relationships/slide" Target="/ppt/slides/slide6.xml" Id="Rd76076f7ccae4e02" /><Relationship Type="http://schemas.openxmlformats.org/officeDocument/2006/relationships/slide" Target="/ppt/slides/slide7.xml" Id="R0f1352351b854a54" /><Relationship Type="http://schemas.openxmlformats.org/officeDocument/2006/relationships/slide" Target="/ppt/slides/slide8.xml" Id="R309b905aba0b427a" /><Relationship Type="http://schemas.openxmlformats.org/officeDocument/2006/relationships/slide" Target="/ppt/slides/slide9.xml" Id="Rd62929f002874bd1" /><Relationship Type="http://schemas.openxmlformats.org/officeDocument/2006/relationships/slide" Target="/ppt/slides/slide10.xml" Id="Rc42071a996ba4f89" /><Relationship Type="http://schemas.openxmlformats.org/officeDocument/2006/relationships/slide" Target="/ppt/slides/slide11.xml" Id="Rfb7ef4fd6f8845f7" /><Relationship Type="http://schemas.openxmlformats.org/officeDocument/2006/relationships/slide" Target="/ppt/slides/slide12.xml" Id="R46a38f4f56a3418d" /><Relationship Type="http://schemas.openxmlformats.org/officeDocument/2006/relationships/slide" Target="/ppt/slides/slide13.xml" Id="R45ec526e5eff4bc7" /><Relationship Type="http://schemas.openxmlformats.org/officeDocument/2006/relationships/slide" Target="/ppt/slides/slide14.xml" Id="Rc321d2a8ffb24934" /><Relationship Type="http://schemas.openxmlformats.org/officeDocument/2006/relationships/slide" Target="/ppt/slides/slide15.xml" Id="R20dee17d762949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0cca20918245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f840a86b3c46e9" /><Relationship Type="http://schemas.openxmlformats.org/officeDocument/2006/relationships/notesMaster" Target="/ppt/notesMasters/notesMaster1.xml" Id="Rc8bbaa1e6ab24cd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eef80baa734a9e" /><Relationship Type="http://schemas.openxmlformats.org/officeDocument/2006/relationships/notesMaster" Target="/ppt/notesMasters/notesMaster1.xml" Id="R2899ece841774d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b48969586874f88" /><Relationship Type="http://schemas.openxmlformats.org/officeDocument/2006/relationships/notesMaster" Target="/ppt/notesMasters/notesMaster1.xml" Id="R59432beee31d42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e668b1736e848c8" /><Relationship Type="http://schemas.openxmlformats.org/officeDocument/2006/relationships/notesMaster" Target="/ppt/notesMasters/notesMaster1.xml" Id="R2a07cffd91df4c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20773826cd4c20" /><Relationship Type="http://schemas.openxmlformats.org/officeDocument/2006/relationships/notesMaster" Target="/ppt/notesMasters/notesMaster1.xml" Id="Rb2759c26f19940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5ad7a35b094fe1" /><Relationship Type="http://schemas.openxmlformats.org/officeDocument/2006/relationships/notesMaster" Target="/ppt/notesMasters/notesMaster1.xml" Id="R51d902de55c8414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e3fb8b63d10479b" /><Relationship Type="http://schemas.openxmlformats.org/officeDocument/2006/relationships/notesMaster" Target="/ppt/notesMasters/notesMaster1.xml" Id="R14abd5a7cf404e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8c0df88c4474468" /><Relationship Type="http://schemas.openxmlformats.org/officeDocument/2006/relationships/notesMaster" Target="/ppt/notesMasters/notesMaster1.xml" Id="R99d0518ea3294bd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c28d66305df4f34" /><Relationship Type="http://schemas.openxmlformats.org/officeDocument/2006/relationships/notesMaster" Target="/ppt/notesMasters/notesMaster1.xml" Id="R194e23e4bc7c4b3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aa00dd394e04b1b" /><Relationship Type="http://schemas.openxmlformats.org/officeDocument/2006/relationships/notesMaster" Target="/ppt/notesMasters/notesMaster1.xml" Id="R6300166c7d014c6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bd68e1782384f95" /><Relationship Type="http://schemas.openxmlformats.org/officeDocument/2006/relationships/notesMaster" Target="/ppt/notesMasters/notesMaster1.xml" Id="R34f292cd8a79454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d09b0556b284e58" /><Relationship Type="http://schemas.openxmlformats.org/officeDocument/2006/relationships/notesMaster" Target="/ppt/notesMasters/notesMaster1.xml" Id="R5cfd8999545245c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0cb5fa7c1fd43a2" /><Relationship Type="http://schemas.openxmlformats.org/officeDocument/2006/relationships/notesMaster" Target="/ppt/notesMasters/notesMaster1.xml" Id="R837741d843ca4de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3a674fe0d53446f" /><Relationship Type="http://schemas.openxmlformats.org/officeDocument/2006/relationships/notesMaster" Target="/ppt/notesMasters/notesMaster1.xml" Id="Rd18e4b23e8e84cc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2cef6b5ab7343c1" /><Relationship Type="http://schemas.openxmlformats.org/officeDocument/2006/relationships/notesMaster" Target="/ppt/notesMasters/notesMaster1.xml" Id="R60c2bf26722641c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Kubicek (2026), India Aviation Stats, cleaned DGCA-derived data. Pinned upstream commit bce8fc78f2be1de88154c1d8e62d13ffc0d8e171.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Version 1.0 annual Random Forest test MAE was approximately 451,552; the previous-year annual baseline MAE was approximately 182,476.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files: airport_monthly.csv, airport_yearly.csv, airport_international_quarterly.csv from India Aviation Stats.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methods use the same 1,357 eligible 2025 airport-month observations. Values come from data/processed/analysis.json.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Class 1 means at least 10% year-on-year growth. The threshold is an analysis decision, not an official category.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K-Means uses six standardised 2025 airport features. Candidate solutions require at least five airports per cluster.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PCA uses the same standardised six-feature matrix as K-Means. It visualises structure and does not create cluster labels.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References: Kubicek (2026), India Aviation Stats; DGCA public workbooks; Pedregosa et al. (2011), scikit-learn; Rousseeuw (1987), Silhouettes.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0d92274a774ca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5d3042b088424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4a985e35284bb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52f89f3c1a4ca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12b0c8cd3a478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2db2aa4805477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F03729C-2F37-4825-819C-F95FB090E5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AF177E7-87B2-4860-AF95-04A87C6910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6345192-9B15-4BA8-B5C1-AE63291555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BB3FB7A-8A17-418C-9C3C-002E1DF2CA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8480644-7D20-4632-A4BE-16F4AF89B1E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138C5E8-7FA8-40A0-B294-971F8E5940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2F51C8B-9DD7-4B5A-8BF6-F24B394339A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2ECDD0B-9648-4FF9-ACCE-5BBB53E7618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6248F0E-723D-4C53-BCC9-E3A36E0B39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CC75696-F9F7-497E-8653-E0F349B6079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631aad89744993" /><Relationship Type="http://schemas.openxmlformats.org/officeDocument/2006/relationships/slideLayout" Target="/ppt/slideLayouts/slideLayout1.xml" Id="R04310b565f454434" /><Relationship Type="http://schemas.openxmlformats.org/officeDocument/2006/relationships/slideLayout" Target="/ppt/slideLayouts/slideLayout2.xml" Id="R65e8ce011d2a483f" /><Relationship Type="http://schemas.openxmlformats.org/officeDocument/2006/relationships/slideLayout" Target="/ppt/slideLayouts/slideLayout3.xml" Id="R035035e7697b4d44" /><Relationship Type="http://schemas.openxmlformats.org/officeDocument/2006/relationships/slideLayout" Target="/ppt/slideLayouts/slideLayout4.xml" Id="R22a27100ccdb4695" /><Relationship Type="http://schemas.openxmlformats.org/officeDocument/2006/relationships/slideLayout" Target="/ppt/slideLayouts/slideLayout5.xml" Id="R37d481ec4fdb4666" /><Relationship Type="http://schemas.openxmlformats.org/officeDocument/2006/relationships/slideLayout" Target="/ppt/slideLayouts/slideLayout6.xml" Id="Rc33024d5e0d645b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310b565f454434"/>
    <p:sldLayoutId xmlns:r="http://schemas.openxmlformats.org/officeDocument/2006/relationships" id="2147483650" r:id="R65e8ce011d2a483f"/>
    <p:sldLayoutId xmlns:r="http://schemas.openxmlformats.org/officeDocument/2006/relationships" id="2147483651" r:id="R035035e7697b4d44"/>
    <p:sldLayoutId xmlns:r="http://schemas.openxmlformats.org/officeDocument/2006/relationships" id="2147483652" r:id="R22a27100ccdb4695"/>
    <p:sldLayoutId xmlns:r="http://schemas.openxmlformats.org/officeDocument/2006/relationships" id="2147483653" r:id="R37d481ec4fdb4666"/>
    <p:sldLayoutId xmlns:r="http://schemas.openxmlformats.org/officeDocument/2006/relationships" id="2147483654" r:id="Rc33024d5e0d645b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88cec3968a4e53" /><Relationship Type="http://schemas.openxmlformats.org/officeDocument/2006/relationships/notesSlide" Target="/ppt/notesSlides/notesSlide1.xml" Id="Rce8a0ae06caa4f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3e0bef9dbb469b" /><Relationship Type="http://schemas.openxmlformats.org/officeDocument/2006/relationships/notesSlide" Target="/ppt/notesSlides/notesSlide2.xml" Id="Rcbe6416b692a47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80d96ffe1a42c1" /><Relationship Type="http://schemas.openxmlformats.org/officeDocument/2006/relationships/notesSlide" Target="/ppt/notesSlides/notesSlide3.xml" Id="R71db013f8b8d4b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d7364b38994dba" /><Relationship Type="http://schemas.openxmlformats.org/officeDocument/2006/relationships/notesSlide" Target="/ppt/notesSlides/notesSlide4.xml" Id="R72fc3b57cb834b0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d97135759f4c35" /><Relationship Type="http://schemas.openxmlformats.org/officeDocument/2006/relationships/notesSlide" Target="/ppt/notesSlides/notesSlide5.xml" Id="R4bb74ffaff5748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9ca2ad07814f49" /><Relationship Type="http://schemas.openxmlformats.org/officeDocument/2006/relationships/notesSlide" Target="/ppt/notesSlides/notesSlide6.xml" Id="R31c84857dd7b48d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4ddb4c229e4636" /><Relationship Type="http://schemas.openxmlformats.org/officeDocument/2006/relationships/notesSlide" Target="/ppt/notesSlides/notesSlide7.xml" Id="Rb8bc40a008564d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bdc87ce7564dc3" /><Relationship Type="http://schemas.openxmlformats.org/officeDocument/2006/relationships/chart" Target="/ppt/slides/charts/chart1.xml" Id="R4cd0bbf1539b46ac" /><Relationship Type="http://schemas.openxmlformats.org/officeDocument/2006/relationships/notesSlide" Target="/ppt/notesSlides/notesSlide8.xml" Id="R9160686d20014ce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1face1c862434d" /><Relationship Type="http://schemas.openxmlformats.org/officeDocument/2006/relationships/notesSlide" Target="/ppt/notesSlides/notesSlide9.xml" Id="Rac8a96ef150446a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548d4d56ee44e9" /><Relationship Type="http://schemas.openxmlformats.org/officeDocument/2006/relationships/notesSlide" Target="/ppt/notesSlides/notesSlide10.xml" Id="R633b980ba1b94d7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08fa538bab429d" /><Relationship Type="http://schemas.openxmlformats.org/officeDocument/2006/relationships/chart" Target="/ppt/slides/charts/chart2.xml" Id="R8aedeee980b74ba9" /><Relationship Type="http://schemas.openxmlformats.org/officeDocument/2006/relationships/notesSlide" Target="/ppt/notesSlides/notesSlide11.xml" Id="R80c702713f574fb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b067e1f2d843c6" /><Relationship Type="http://schemas.openxmlformats.org/officeDocument/2006/relationships/image" Target="/ppt/media/image.png" Id="Rc957997060c64b1a" /><Relationship Type="http://schemas.openxmlformats.org/officeDocument/2006/relationships/notesSlide" Target="/ppt/notesSlides/notesSlide12.xml" Id="R97e028b1755e416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860cfd27dc4b71" /><Relationship Type="http://schemas.openxmlformats.org/officeDocument/2006/relationships/notesSlide" Target="/ppt/notesSlides/notesSlide13.xml" Id="R9b3874bdd8b144a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58281e54ef478c" /><Relationship Type="http://schemas.openxmlformats.org/officeDocument/2006/relationships/notesSlide" Target="/ppt/notesSlides/notesSlide14.xml" Id="Rdce4c6dc2bff40c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111874f4a84bf2" /><Relationship Type="http://schemas.openxmlformats.org/officeDocument/2006/relationships/notesSlide" Target="/ppt/notesSlides/notesSlide15.xml" Id="R0f063f88bbda4cf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2025 MAE</c:v>
          </c:tx>
          <c:spPr>
            <a:solidFill xmlns:a="http://schemas.openxmlformats.org/drawingml/2006/main">
              <a:srgbClr val="17679A"/>
            </a:solidFill>
          </c:spPr>
          <c:invertIfNegative val="0"/>
          <c:cat>
            <c:strRef>
              <c:f>'Chart Data'!$A$2:$A$8</c:f>
              <c:strCache>
                <c:ptCount val="7"/>
                <c:pt idx="0">
                  <c:v>Ridge regression</c:v>
                </c:pt>
                <c:pt idx="1">
                  <c:v>Decision Tree</c:v>
                </c:pt>
                <c:pt idx="2">
                  <c:v>Random Forest</c:v>
                </c:pt>
                <c:pt idx="3">
                  <c:v>HistGradientBoosting</c:v>
                </c:pt>
                <c:pt idx="4">
                  <c:v>Previous month naive</c:v>
                </c:pt>
                <c:pt idx="5">
                  <c:v>Seasonal naive</c:v>
                </c:pt>
                <c:pt idx="6">
                  <c:v>Airport historical mean</c:v>
                </c:pt>
              </c:strCache>
            </c:strRef>
          </c:cat>
          <c:val>
            <c:numRef>
              <c:f>'Chart Data'!$B$2:$B$8</c:f>
              <c:numCache>
                <c:formatCode>General</c:formatCode>
                <c:ptCount val="7"/>
                <c:pt idx="0">
                  <c:v>162332.85</c:v>
                </c:pt>
                <c:pt idx="1">
                  <c:v>21434.44</c:v>
                </c:pt>
                <c:pt idx="2">
                  <c:v>17479.31</c:v>
                </c:pt>
                <c:pt idx="3">
                  <c:v>20977.14</c:v>
                </c:pt>
                <c:pt idx="4">
                  <c:v>16481.24</c:v>
                </c:pt>
                <c:pt idx="5">
                  <c:v>22668.02</c:v>
                </c:pt>
                <c:pt idx="6">
                  <c:v>62707.89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Times New Roman"/>
                  <a:ea typeface="Times New Roman"/>
                  <a:cs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D6DEE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Times New Roman"/>
                    <a:ea typeface="Times New Roman"/>
                    <a:cs typeface="Times New Roman"/>
                  </a:rPr>
                  <a:t>Mean absolute error (passenger movements)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Times New Roman"/>
                  <a:ea typeface="Times New Roman"/>
                  <a:cs typeface="Times New Roman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Times New Roman"/>
                <a:ea typeface="Times New Roman"/>
                <a:cs typeface="Times New Roman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Times New Roman"/>
                <a:ea typeface="Times New Roman"/>
                <a:cs typeface="Times New Roman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Silhouette Score</c:v>
          </c:tx>
          <c:spPr>
            <a:solidFill xmlns:a="http://schemas.openxmlformats.org/drawingml/2006/main">
              <a:srgbClr val="17679A"/>
            </a:solidFill>
          </c:spPr>
          <c:marker>
            <c:symbol val="none"/>
          </c:marker>
          <c:cat>
            <c:numRef>
              <c:f>'Chart Data'!$A$2:$A$6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</c:numCache>
            </c:num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0.428415</c:v>
                </c:pt>
                <c:pt idx="1">
                  <c:v>0.463976</c:v>
                </c:pt>
                <c:pt idx="2">
                  <c:v>0.491644</c:v>
                </c:pt>
                <c:pt idx="3">
                  <c:v>0.502094</c:v>
                </c:pt>
                <c:pt idx="4">
                  <c:v>0.485234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Times New Roman"/>
                  <a:ea typeface="Times New Roman"/>
                  <a:cs typeface="Times New Roman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Times New Roman"/>
                    <a:ea typeface="Times New Roman"/>
                    <a:cs typeface="Times New Roman"/>
                  </a:rPr>
                  <a:t>Number of clusters k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Times New Roman"/>
                  <a:ea typeface="Times New Roman"/>
                  <a:cs typeface="Times New Roman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Times New Roman"/>
                <a:ea typeface="Times New Roman"/>
                <a:cs typeface="Times New Roman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DEE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Times New Roman"/>
                    <a:ea typeface="Times New Roman"/>
                    <a:cs typeface="Times New Roman"/>
                  </a:rPr>
                  <a:t>Silhouette Score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Times New Roman"/>
                  <a:ea typeface="Times New Roman"/>
                  <a:cs typeface="Times New Roman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Times New Roman"/>
                <a:ea typeface="Times New Roman"/>
                <a:cs typeface="Times New Roman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6746B7-D031-48E1-8C72-BED86BAE9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91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12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12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12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12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12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12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12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12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12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rPr>
              <a:t>AIRCONNECT INDIA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62F0AF-205F-4703-A390-E4E14A5D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90650"/>
            <a:ext cx="103822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32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32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32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32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32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32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32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32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32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2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Machine Learning-Based Analysis of Indian Airport Passenger Traffic and Connectivity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3BE673-D53B-43BC-8685-7363EED7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MDI4001  Machine Learning for Data Science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E662B6-B133-4416-B5BE-9F6B1B01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>
            <a:defPPr algn="l">
              <a:defRPr sz="13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3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3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3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3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3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3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3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3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3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Version 2.0  |  19 October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8FFEE3-C658-46BE-AA43-7ACBD4DF9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27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27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27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27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27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27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27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27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27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Team members: [Names and register numbers]</a:t>
            </a:r>
          </a:p>
        </p:txBody>
      </p:sp>
    </p:spTree>
    <p:extLst>
      <p:ext uri="{BB962C8B-B14F-4D97-AF65-F5344CB8AC3E}">
        <p14:creationId xmlns:p14="http://schemas.microsoft.com/office/powerpoint/2010/main" val="9571077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D2DD27-5926-4426-B6C2-07FD241F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Problem statement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633991-AB6E-452F-8770-2D427236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AirConnect India  |  MDI4001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F2DDFB-4A1E-43BA-9459-5E667E88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B7DE8A-03DB-40B3-8A06-BECF209A4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8107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A60895-3D7C-439C-ACF6-446BF31A7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Annual airport samples were too small for reliable supervised learning.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4E655B-C190-4663-8B0C-80D7ED8CC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52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934180-1C0D-487C-B13D-2AF6360F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0502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A previous-year baseline outperformed the original Random Forest.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746552-2C58-4A00-A7C1-E5B24C8E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DABC58-2CA2-4E3F-B225-0ACFD862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5750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Random train/test splits would leak future traffic patterns.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E74768-E2A4-42BD-869D-E742518C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9ED88-7018-4DFA-8559-6AED0A94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099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The project needs classification, PCA, and a real confusion matrix.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09E0FA-FEC0-46DF-B231-5EE220A0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772576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725E36-A1AE-4443-B734-5E8F763D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Objectives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65AB05-4DBB-4DC8-815F-80861661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AirConnect India  |  MDI4001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13BB8F-9A96-4512-B587-974391FC9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723257-5AA8-45EC-9C40-CD1905B58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8107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2D19C4-ACF3-4732-A51A-464EE341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57300"/>
            <a:ext cx="1038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Build an airport-month panel from validated DGCA-derived records.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6BACAF-4588-44DB-A4AC-8C5CA7749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57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E4B0A9-75BB-4A13-937C-648FA220B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24050"/>
            <a:ext cx="1038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Predict next-month domestic passenger movements using only prior information.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736D7D-D519-462C-8067-C42FB528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24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9AAD4C-BE4E-42E6-A464-BD79631A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90800"/>
            <a:ext cx="1038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Classify at least 10% year-on-year growth with chronological evaluation.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AAF4D6-5C53-4260-ADDC-93DE2387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90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20F3BE-5415-4B5C-B12A-B7776DA8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1038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Evaluate K-Means groups and visualise the feature space with PCA.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0F895A-9176-4E7E-BB8A-614E553B1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57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07B8B1-71D5-490B-961B-A8237CB5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1038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Publish consistent results in an offline website, report, and presentation.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266354-8E87-4CD7-B856-87D629C3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24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414407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FAE260-0949-4E01-BAB0-C5F66CDE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Dataset and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9C84F7-A156-42E9-B9C4-ABBF2732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AirConnect India  |  MDI4001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231AC7-3D8A-4CC2-85A5-BC4F5CFD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711314-3440-4B63-A44F-8C6D1CF4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8107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C88172-A508-47BD-8798-D0B6B5D9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81125"/>
            <a:ext cx="2381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28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28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28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28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28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28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28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28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28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28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28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8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rPr>
              <a:t>13,599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DA0F73-AD57-43C3-9181-01807962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domestic airport-month rows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A65667-3EED-46A9-A0A2-A2E11B0F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381125"/>
            <a:ext cx="2381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285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285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285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285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285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285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285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285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285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285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285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85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rPr>
              <a:t>144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5F69D5-B422-4757-AE0C-D82C27CC1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1717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airports in monthly source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4B494D-E07C-4155-B5AA-735ABFBC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381125"/>
            <a:ext cx="2381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2015–2026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F62676-8210-42FA-9715-47D13F200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717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partial endpoints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560F01-5705-4507-8ACD-3317C3420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381125"/>
            <a:ext cx="1809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80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80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80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80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80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80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80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80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80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80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Pinned source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FE2873-8928-471B-B4A1-7DBDE245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1717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commit + SHA-256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B8B77D-EACC-4365-85B3-F4A5961B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432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Model window ends in December 2025. Partial 2026 is excluded.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DA153B-B3BA-417B-9D80-510CC972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0F0B2A-1C7F-408E-8D5F-22AF7189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Targets remain observed. Missing calendar months never become zero.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EB009D-5AB2-4A4A-AD08-C602E4C64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0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E2BC09-B377-458C-A7A5-03E046CA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767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Complete domestic years reconcile between monthly and annual tables.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8C968E-489E-4109-9C0A-AF63ACA3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76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840332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5712B0-820D-4B77-A2C2-EA273364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System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9D2633-148A-4BC9-A553-2E61AFA0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AirConnect India  |  MDI4001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01FDB5-5939-43B6-85D0-C441DA4D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F6ED13-8E2B-4497-8B14-5784B3AC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8107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6D7945-8CB8-4992-9669-9E25D339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15049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Pinned CSVs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C8B4EF-A71D-4219-AC23-07C8FF88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2571750"/>
            <a:ext cx="257175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57F84"/>
          </a:solidFill>
          <a:ln xmlns:a="http://schemas.openxmlformats.org/drawingml/2006/main" w="0">
            <a:solidFill>
              <a:srgbClr val="557F8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3D8400-4C0E-4A29-9BC3-3C0C8A71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333625"/>
            <a:ext cx="15049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Validation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F5A078-2FEF-4E75-BBCE-C12C7AE3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571750"/>
            <a:ext cx="257175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57F84"/>
          </a:solidFill>
          <a:ln xmlns:a="http://schemas.openxmlformats.org/drawingml/2006/main" w="0">
            <a:solidFill>
              <a:srgbClr val="557F8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36D4D9-4DEB-4F37-AE5D-5ED4F09C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33625"/>
            <a:ext cx="15049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Exact lags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D4EEC-F51D-4CC8-9072-FE9F2FC9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571750"/>
            <a:ext cx="257175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57F84"/>
          </a:solidFill>
          <a:ln xmlns:a="http://schemas.openxmlformats.org/drawingml/2006/main" w="0">
            <a:solidFill>
              <a:srgbClr val="557F8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E8FC09-09D0-4DBE-9A01-350A803E3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33625"/>
            <a:ext cx="15049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Model selection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5DA3DF-9687-4E01-B517-7E3D114F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571750"/>
            <a:ext cx="257175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57F84"/>
          </a:solidFill>
          <a:ln xmlns:a="http://schemas.openxmlformats.org/drawingml/2006/main" w="0">
            <a:solidFill>
              <a:srgbClr val="557F8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572BB4-5EBD-4F0B-9205-FF574D5AD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33625"/>
            <a:ext cx="15049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9525">
            <a:solidFill>
              <a:srgbClr val="17679A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27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27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27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27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27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27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27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27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27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Canonical JSON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60C1C6-1A7C-45AE-B2A3-058C5239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571750"/>
            <a:ext cx="257175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57F84"/>
          </a:solidFill>
          <a:ln xmlns:a="http://schemas.openxmlformats.org/drawingml/2006/main" w="0">
            <a:solidFill>
              <a:srgbClr val="557F8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FBB3E5-9EF8-46A6-987D-B0CAF6C92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333625"/>
            <a:ext cx="15049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Site and documents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26E3DA-06CB-4474-B2AB-13AE155B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57625"/>
            <a:ext cx="9906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6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6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6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6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6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6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6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6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6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6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Python prepares all results before the browser opens. The website has no runtime server, login, database, CDN, or cloud dependency.</a:t>
            </a:r>
          </a:p>
        </p:txBody>
      </p:sp>
    </p:spTree>
    <p:extLst>
      <p:ext uri="{BB962C8B-B14F-4D97-AF65-F5344CB8AC3E}">
        <p14:creationId xmlns:p14="http://schemas.microsoft.com/office/powerpoint/2010/main" val="19793207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67A8F7-CAA9-4865-B0CC-EE7759462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Data processing and feature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E02406-6CA3-45A3-A14A-CAA7B775B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AirConnect India  |  MDI4001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E3ED51-D5E1-46FD-91B0-0717DC1F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8E84F4-4CFC-41F5-B66F-458DC9B9F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8107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8A03C-98C3-47FC-98C3-A3757E33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5255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9525">
            <a:solidFill>
              <a:srgbClr val="17679A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ECBD06-AB80-40F2-8515-1BC4807F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9191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Exact lags: 1, 2, 3, and 12 months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2CA1EC-5FB4-45F4-B4C3-96A0B979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9525">
            <a:solidFill>
              <a:srgbClr val="17679A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D94B1-7FD4-49E3-B78A-1FAE3B53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343150"/>
            <a:ext cx="9191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Shifted rolling means: 3, 6, and 12 months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1A525E-30C4-4D47-AACF-FC72D4721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9525">
            <a:solidFill>
              <a:srgbClr val="17679A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B7B796-BBD0-44EE-9C13-606B07F0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333750"/>
            <a:ext cx="9191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Lagged growth, seasonal sine/cosine, airport identity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375F7D-9ACB-4249-B8DF-0BF921B8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9525">
            <a:solidFill>
              <a:srgbClr val="17679A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B33902-56DD-4DEA-ABDD-3FD974CB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24350"/>
            <a:ext cx="9191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Train-only imputation and encoding inside each fold</a:t>
            </a:r>
          </a:p>
        </p:txBody>
      </p:sp>
    </p:spTree>
    <p:extLst>
      <p:ext uri="{BB962C8B-B14F-4D97-AF65-F5344CB8AC3E}">
        <p14:creationId xmlns:p14="http://schemas.microsoft.com/office/powerpoint/2010/main" val="18382148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B0400-65F0-434D-A055-F3C8CE42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Regression methodology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F49A9B-4CF3-478E-AFE1-28CD59F14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AirConnect India  |  MDI4001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F385A5-5AB3-4899-87B9-A6A23B93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CDF742-17D5-4DE0-95F8-D79620593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8107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55006B-AD5E-4CC4-A3EE-8D3F27B4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192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Task: predict airport A in month T from information available before 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BF940D-E227-4E2F-BC8B-19BACAFF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19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255C29-385F-4040-B8D9-57C00AC7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Candidates: Ridge, CART, Random Forest, Histogram Gradient Boosting.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E3AC2-E410-4E7C-A99E-A90C24E08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2A4B00-A72D-497E-845A-020BFF01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Baselines: previous month, same month previous year, airport historical mean.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62E801-45AE-44C2-B34B-19AE9652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95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8E8164-D2DB-4D1A-A2F6-B4DBC0CEA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337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Expanding validation years: 2022, 2023, 2024. Final test: 2025.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18F741-8D12-4C35-8528-318890B4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679FE8-B404-4F4D-BEA5-89CC6248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719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Selection metric: validation MAE. Reporting: MAE, RMSE, R², WAPE, median AE.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693AD9-1672-4EF8-8FD2-A0CC5A59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719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703288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2ED574-692F-463F-95A4-62DC2768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Regression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2A7032-2120-4930-9B39-33EEA051B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AirConnect India  |  MDI4001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4B0D98-B3F9-4C5B-A0FA-C772CCAAB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033297-5EB3-4436-889D-B11562A5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8107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5"/>
            </a:solidFill>
            <a:prstDash val="solid"/>
          </a:ln>
        </p:spPr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5DA08A19-65EC-45B3-BA2D-6B5BA1BCF6AD}"/>
              </a:ext>
            </a:extLst>
          </p:cNvPr>
          <p:cNvGraphicFramePr/>
          <p:nvPr/>
        </p:nvGraphicFramePr>
        <p:xfrm>
          <a:off xmlns:a="http://schemas.openxmlformats.org/drawingml/2006/main" x="666750" y="1333500"/>
          <a:ext xmlns:a="http://schemas.openxmlformats.org/drawingml/2006/main" cx="7239000" cy="4381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d0bbf1539b46ac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DDC05D-B743-4FE2-ADD7-5E69CC97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524000"/>
            <a:ext cx="2857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Selected ML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BA266D-C6B6-46F9-8714-B165EDE7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859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Random Forest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ACCC3E-BE18-4064-ACD9-F28E8FAA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4003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87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87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87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87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87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87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87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87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87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rPr>
              <a:t>17,479 MAE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A68EF6-3028-46D7-AEE4-BFE454D8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352800"/>
            <a:ext cx="2857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Best overall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493C7D-9CF2-48DB-B126-39AD32D9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147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Previous month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1A30F0-DC63-4A7E-AFA6-6AA33EBBC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2291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875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875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875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875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875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875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875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875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875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rPr>
              <a:t>16,481 MAE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7618EB-C857-4DFD-8D91-3AD06E9E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029200"/>
            <a:ext cx="285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35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35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35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35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35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35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35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35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35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The baseline remains stronger on the untouched test.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AF59CE-B17F-49DF-8315-15219490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750"/>
            <a:ext cx="10715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Regression results</a:t>
            </a:r>
          </a:p>
        </p:txBody>
      </p:sp>
    </p:spTree>
    <p:extLst>
      <p:ext uri="{BB962C8B-B14F-4D97-AF65-F5344CB8AC3E}">
        <p14:creationId xmlns:p14="http://schemas.microsoft.com/office/powerpoint/2010/main" val="63892102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EAD6A9-9C03-4273-B206-9B9B6E29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Classification methodology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F05693-CFFF-4DFA-BF1C-EFA64035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AirConnect India  |  MDI4001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CEF5A8-5D79-4FE9-939B-85BEFEB9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FA9423-EFE3-42D2-9D9B-53504C38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8107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B67A66-981F-40B7-8B77-53318234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2190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9525">
            <a:solidFill>
              <a:srgbClr val="17679A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2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2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2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2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2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2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2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2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2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2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Class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E4F46C-98B4-488F-95F1-7F8C9CCC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28750"/>
            <a:ext cx="8001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Target traffic ≥ 1.10 × same month one year earlier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2AA974-54E0-46F6-A3C8-D05B66AF0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981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Candidates: Logistic Regression, CART, Random Forest.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932F73-086A-4EEF-A14A-5B39CD97D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57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70963A-757A-4DCC-ABF3-E4FDD15D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981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Majority-class DummyClassifier provides the baseline.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B08939-1298-4C4C-996E-E80D2CF0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24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85E088-B52C-45DD-825D-0F96C83C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91000"/>
            <a:ext cx="981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Validation balanced accuracy selects the classifier.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09021F-35B2-4809-9C3C-E4B0990E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91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EF76CC-6EA6-4403-8F7D-7B92777FA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57750"/>
            <a:ext cx="981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Decision threshold 0.50. 2025 contains 588 positive cases from 1,357 rows.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F2C7A3-CEB7-440F-80FB-AF3BD02E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57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206764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4A46AA-0774-4820-8919-723FB2D2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Classification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578A9C-40C7-4BFC-B91A-AC12436C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AirConnect India  |  MDI4001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BCFA62-7F03-4BF2-B906-CE0363FC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22813C-F660-4C92-8F6E-EA2672979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8107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8E71-E776-49E5-AE1A-BD68F523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114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Actual 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93AA6A-2042-4799-B873-F1D38CCAC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81375"/>
            <a:ext cx="114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Actual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71DC80-BFC4-4F65-AC17-F5BA4C1D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238250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Predicted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11C05F-B78E-4A15-9060-337B3E4B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238250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Predicted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E26F98-F1D5-4152-8536-7580E7EF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1666875"/>
            <a:ext cx="1905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3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688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43B21A-1CCF-45DF-9DF2-6F0DF79E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5717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3809"/>
          </a:bodyPr>
          <a:lstStyle xmlns:a="http://schemas.openxmlformats.org/drawingml/2006/main">
            <a:def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True negative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F5A389-CF5F-45AD-88F3-1807E63A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666875"/>
            <a:ext cx="1905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E5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81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9D3199-F255-456F-B139-2F367353F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3809"/>
          </a:bodyPr>
          <a:lstStyle xmlns:a="http://schemas.openxmlformats.org/drawingml/2006/main">
            <a:def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False positive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DFDA73-B8AB-4B43-86CC-097F931D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238500"/>
            <a:ext cx="1905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FE5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196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1E48A5-D8D6-4A7D-B7E0-7E00D56C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143375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3809"/>
          </a:bodyPr>
          <a:lstStyle xmlns:a="http://schemas.openxmlformats.org/drawingml/2006/main">
            <a:def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False negative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96419-B176-4999-A6B4-0726BCDD5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238500"/>
            <a:ext cx="1905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3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392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897FC4-08C6-44B5-90B4-5802D35A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143375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3809"/>
          </a:bodyPr>
          <a:lstStyle xmlns:a="http://schemas.openxmlformats.org/drawingml/2006/main">
            <a:def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True positive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AD04A7-F9D2-48C7-A955-D9EE27D2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71625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Logistic Regression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18A15A-E819-4CBD-BB36-068F617C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3837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>
            <a:def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Balanced accuracy  0.781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FFCD45-6A0F-4FD3-B025-0B2CD41D4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3367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>
            <a:def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F1 score  0.739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578557-94AD-4C9F-9ED4-E32F0FC75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2897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>
            <a:def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ROC-AUC  0.886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90EEF6-2ECF-480F-983A-CA2F3783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00500"/>
            <a:ext cx="342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Random Forest scores higher on the final test, but validation selected Logistic Regression before the test was opened.</a:t>
            </a:r>
          </a:p>
        </p:txBody>
      </p:sp>
    </p:spTree>
    <p:extLst>
      <p:ext uri="{BB962C8B-B14F-4D97-AF65-F5344CB8AC3E}">
        <p14:creationId xmlns:p14="http://schemas.microsoft.com/office/powerpoint/2010/main" val="14441213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5FAF0C-3B94-481F-BC71-9278CDBA4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K-Means clustering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68EF43-CC2A-470A-9326-C9DF13A0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AirConnect India  |  MDI4001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502FE6-7EE2-4C4F-B165-E941C770F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DE31DF-789C-4CEC-8232-EDBBBD552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8107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5"/>
            </a:solidFill>
            <a:prstDash val="solid"/>
          </a:ln>
        </p:spPr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E91CDF74-55E4-441D-8A7A-C326A36DE169}"/>
              </a:ext>
            </a:extLst>
          </p:cNvPr>
          <p:cNvGraphicFramePr/>
          <p:nvPr/>
        </p:nvGraphicFramePr>
        <p:xfrm>
          <a:off xmlns:a="http://schemas.openxmlformats.org/drawingml/2006/main" x="666750" y="1381125"/>
          <a:ext xmlns:a="http://schemas.openxmlformats.org/drawingml/2006/main" cx="61912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aedeee980b74ba9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691AB3-8F96-458F-9B64-32EAF600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2400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Selected k = 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208884-D13E-4A7A-85F0-2F8E09DA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9075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8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8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8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8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8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8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8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8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8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rPr>
              <a:t>Silhouette 0.492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060A56-8C0F-4FD6-A0C8-8446CFC5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051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Small airports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C3BCEA-7E1F-4BB7-A012-8167018E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905125"/>
            <a:ext cx="85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A8B8C6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500" b="1">
                <a:solidFill>
                  <a:srgbClr val="A8B8C6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500" b="1">
                <a:solidFill>
                  <a:srgbClr val="A8B8C6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500" b="1">
                <a:solidFill>
                  <a:srgbClr val="A8B8C6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500" b="1">
                <a:solidFill>
                  <a:srgbClr val="A8B8C6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500" b="1">
                <a:solidFill>
                  <a:srgbClr val="A8B8C6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500" b="1">
                <a:solidFill>
                  <a:srgbClr val="A8B8C6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500" b="1">
                <a:solidFill>
                  <a:srgbClr val="A8B8C6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500" b="1">
                <a:solidFill>
                  <a:srgbClr val="A8B8C6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500" b="1">
                <a:solidFill>
                  <a:srgbClr val="A8B8C6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A8B8C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A8B8C6"/>
                </a:solidFill>
                <a:latin typeface="Times New Roman"/>
                <a:ea typeface="Times New Roman"/>
                <a:cs typeface="Times New Roman"/>
              </a:rPr>
              <a:t>21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F20CFD-787C-4B4F-9FF3-E4F9EE44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956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Regional airports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1D1D0E-8529-4657-B90C-FF4CF1947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95675"/>
            <a:ext cx="85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729AB8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500" b="1">
                <a:solidFill>
                  <a:srgbClr val="729AB8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500" b="1">
                <a:solidFill>
                  <a:srgbClr val="729AB8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500" b="1">
                <a:solidFill>
                  <a:srgbClr val="729AB8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500" b="1">
                <a:solidFill>
                  <a:srgbClr val="729AB8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500" b="1">
                <a:solidFill>
                  <a:srgbClr val="729AB8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500" b="1">
                <a:solidFill>
                  <a:srgbClr val="729AB8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500" b="1">
                <a:solidFill>
                  <a:srgbClr val="729AB8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500" b="1">
                <a:solidFill>
                  <a:srgbClr val="729AB8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500" b="1">
                <a:solidFill>
                  <a:srgbClr val="729AB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729AB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729AB8"/>
                </a:solidFill>
                <a:latin typeface="Times New Roman"/>
                <a:ea typeface="Times New Roman"/>
                <a:cs typeface="Times New Roman"/>
              </a:rPr>
              <a:t>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D1EC40-65FE-43DF-80F7-7B91AE2D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862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Large airports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BD99FF-C589-4282-8E8B-35605EB6D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86225"/>
            <a:ext cx="85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5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5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5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5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5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5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5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5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5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rPr>
              <a:t>70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6CD0EE-1C33-4A0A-B1CB-326EC1B16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767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Major gateways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5CAA1F-E5C0-4F38-A9E9-76AE4A66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676775"/>
            <a:ext cx="85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5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5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5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5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5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5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5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5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5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31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D1E0FB-058D-4DAF-94C0-CEAB5C92A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39115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27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27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27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27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27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27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27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27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27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k = 5 has a slightly higher score but fails the minimum cluster-size rule.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FDD947-C76C-437B-8216-C1CBC595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750"/>
            <a:ext cx="10715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K-Means clustering</a:t>
            </a:r>
          </a:p>
        </p:txBody>
      </p:sp>
    </p:spTree>
    <p:extLst>
      <p:ext uri="{BB962C8B-B14F-4D97-AF65-F5344CB8AC3E}">
        <p14:creationId xmlns:p14="http://schemas.microsoft.com/office/powerpoint/2010/main" val="4775834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5F6AEB-8E6E-4B84-B607-855771F7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PCA visualisation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18D056-616F-4BD2-B315-E5FD3337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AirConnect India  |  MDI4001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3F87A3-A1FB-4048-998D-3289A9AE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2EB9CE-4F00-4553-B41B-71D431EA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8107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5"/>
            </a:solidFill>
            <a:prstDash val="solid"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83DD3D-788E-40B0-8432-D50B5E9BDF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57997060c64b1a"/>
          <a:stretch xmlns:a="http://schemas.openxmlformats.org/drawingml/2006/main"/>
        </p:blipFill>
        <p:spPr>
          <a:xfrm xmlns:a="http://schemas.openxmlformats.org/drawingml/2006/main">
            <a:off x="978076" y="1219200"/>
            <a:ext cx="6711597" cy="4762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887BBC-84AB-4A8B-80F8-4448EBE8C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57162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PC1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785013-F11A-4EE8-83FD-FA34AFD6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952625"/>
            <a:ext cx="2333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4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4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4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4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4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4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4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4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4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rPr>
              <a:t>44.85%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A0203A-11A6-443B-8240-04A4BB11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857500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PC2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36C959-1F22-4B5F-8EB8-613D6542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238500"/>
            <a:ext cx="2333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40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40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40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40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40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40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40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40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40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>
                <a:solidFill>
                  <a:srgbClr val="557F84"/>
                </a:solidFill>
                <a:latin typeface="Times New Roman"/>
                <a:ea typeface="Times New Roman"/>
                <a:cs typeface="Times New Roman"/>
              </a:rPr>
              <a:t>19.02%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031F0F-2834-40E2-8004-DCEDB2B0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14337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Cumulative variance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B6220A-BA67-47AE-8A0B-47340792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524375"/>
            <a:ext cx="2333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4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4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4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4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4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4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4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4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4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63.87%</a:t>
            </a:r>
          </a:p>
        </p:txBody>
      </p:sp>
    </p:spTree>
    <p:extLst>
      <p:ext uri="{BB962C8B-B14F-4D97-AF65-F5344CB8AC3E}">
        <p14:creationId xmlns:p14="http://schemas.microsoft.com/office/powerpoint/2010/main" val="11879065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792746-2DFF-4787-9DE5-B89A5CAD1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Offline website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1C1F60-D719-4CD6-A5A6-E2B8E000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AirConnect India  |  MDI4001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F1047C-3C7A-4EAB-94A7-CD2F2352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74269-E799-4285-B1D5-7B4EC405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8107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FBA7DC-D099-400B-94E1-E46FFE10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28750"/>
            <a:ext cx="2381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Overview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76BA54-B477-4C3A-A4DD-87C98702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428750"/>
            <a:ext cx="2381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Airport Explorer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4B9047-B1B6-4E96-A18D-0F633BAC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428750"/>
            <a:ext cx="2381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Machine Learning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629032-5C4C-470B-A236-5A0015AAB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428750"/>
            <a:ext cx="2381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Methodology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9D11B7-9C8D-4731-BDB6-4F404AB1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Regression, Classification, and Clustering/PCA sub-tabs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4E56D0-236B-42CB-9CEA-A30D364B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105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8C3476-BCEE-4BB0-A82D-1E92AAF1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433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Interactive SVG charts with keyboard-accessible data points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DBAD29-68CF-40FC-8373-8F04C6320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743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79D84D-C9EE-4772-8D53-AB0F6A37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181475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Year, traffic group, airport search, map selection, and CSV export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AA6517-D08C-416A-8C47-72E44813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381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157BBA-4801-4407-A819-7347C24E7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196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Viewport-aware tooltips for mouse, keyboard, and touch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FC549C-26EE-4071-9808-BC530AA83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019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AA8259-13D4-4953-9C4D-9199A5EF9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457825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Static HTML, CSS, and JavaScript with local generated data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53CF62-B665-420C-AC9A-2893E017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657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4258605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266F0D-5AF4-4587-9040-B91B1322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Findings and limitations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A14B4F-C214-407F-A1C3-03DDBA3CE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AirConnect India  |  MDI4001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E559C2-4936-4C29-BE56-AACD5C42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B6E087-CF16-4019-8BC2-99C18FEC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8107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7DF334-2CF2-457B-AC17-B323CA7C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33500"/>
            <a:ext cx="4905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Findings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939031-7239-4EA9-AADF-E25C993E4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52625"/>
            <a:ext cx="4524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Monthly data materially reduces trained-model error.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CEB399-409A-4793-B069-A1A0630F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F0FC34-2276-4B01-A7F1-E75CEFC9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81275"/>
            <a:ext cx="4524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The previous-month baseline remains the strongest forecast.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F5A1A8-6154-462A-B69B-8EE62249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FD05DB-1A05-4664-9688-132202B3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09925"/>
            <a:ext cx="4524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8148"/>
          </a:bodyPr>
          <a:lstStyle xmlns:a="http://schemas.openxmlformats.org/drawingml/2006/main">
            <a:def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Classification provides useful discrimination beyond the dummy.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351959-ED4A-4FEA-BA8D-CBCEA8C4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09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5B38E0-ADF5-4891-8E90-0A3CC49B0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38575"/>
            <a:ext cx="4524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Four clusters balance separation and minimum group size.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4A741B-4512-4EDE-8A31-1E0E42FF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38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E64200-C11F-47BF-A28F-1C1868A7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333500"/>
            <a:ext cx="4905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Limitations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6D65E5-BBFE-4A07-AC31-68CC2D8ED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52625"/>
            <a:ext cx="4524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One-step evaluation uses actual lagged observations.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2ED421-803B-4159-A7E8-050738329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105D57-50BF-42F9-9049-DBCD62EB6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81275"/>
            <a:ext cx="4524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Pandemic disruption creates distribution shift.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C8F1D7-8873-4DD9-BC0F-A7DFFA4EF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81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398952-B36E-43BC-A921-CD50A717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09925"/>
            <a:ext cx="4524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Continuity requirements affect eligible airport-months.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20BD40-3267-4543-9B99-DFB55301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409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A9D490-CAF6-41F9-8368-C6D7E23A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38575"/>
            <a:ext cx="4524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Passenger counts do not measure capacity utilisation.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9204D6-E1F2-4945-AF49-C22858AD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38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2423002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4455BB-7E66-4B92-8C47-7973A688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Conclusion and references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F0CDB0-0D37-4C5D-BB22-2A18DDF4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AirConnect India  |  MDI4001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3D177-0086-4D0F-B6C8-E3780C05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>
            <a:def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defPPr>
            <a:lvl1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1pPr>
            <a:lvl2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2pPr>
            <a:lvl3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3pPr>
            <a:lvl4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4pPr>
            <a:lvl5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5pPr>
            <a:lvl6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6pPr>
            <a:lvl7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7pPr>
            <a:lvl8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8pPr>
            <a:lvl9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r">
              <a:def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617381"/>
                </a:solidFill>
                <a:latin typeface="Times New Roman"/>
                <a:ea typeface="Times New Roman"/>
                <a:cs typeface="Times New Roman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39CF33-57BF-4F62-9920-E3CDC6308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8107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4BCB83-2238-4EF0-8714-A85B4AA7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81125"/>
            <a:ext cx="10382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9525">
            <a:solidFill>
              <a:srgbClr val="D6DEE5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73B58"/>
                </a:solidFill>
                <a:latin typeface="Times New Roman"/>
                <a:ea typeface="Times New Roman"/>
                <a:cs typeface="Times New Roman"/>
              </a:rPr>
              <a:t>AirConnect India v2.0 demonstrates that careful temporal validation and strong baselines matter more than model complexity.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CC7425-2DF0-481F-B1E5-B92494AC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0375"/>
            <a:ext cx="9763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Primary source: Kubicek (2026), India Aviation Stats, cleaned DGCA data.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89F4C8-D50E-46C2-9F62-690AF037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004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429816-8432-4E81-81B6-5AF742F0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05225"/>
            <a:ext cx="9763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Methods: scikit-learn 1.7; deterministic seed 37.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7C31B7-FE9B-4119-B474-787C5D447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F83D89-FE51-45B1-A467-4BAAE1BB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10075"/>
            <a:ext cx="9763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263847"/>
                </a:solidFill>
                <a:latin typeface="Times New Roman"/>
                <a:ea typeface="Times New Roman"/>
                <a:cs typeface="Times New Roman"/>
              </a:rPr>
              <a:t>Full reproducibility: source hashes, canonical JSON, tests, website, report, and deck.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178F55-A5B1-4C69-982F-9059E4298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10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9A"/>
          </a:solidFill>
          <a:ln xmlns:a="http://schemas.openxmlformats.org/drawingml/2006/main" w="0">
            <a:solidFill>
              <a:srgbClr val="17679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5FE232-3350-4634-8281-1E46A0AB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29250"/>
            <a:ext cx="9763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3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3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3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3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3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3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3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3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3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3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>
                <a:solidFill>
                  <a:srgbClr val="17679A"/>
                </a:solidFill>
                <a:latin typeface="Times New Roman"/>
                <a:ea typeface="Times New Roman"/>
                <a:cs typeface="Times New Roman"/>
              </a:rPr>
              <a:t>Repository  github.com/kasinathca/airconnect</a:t>
            </a:r>
          </a:p>
        </p:txBody>
      </p:sp>
    </p:spTree>
    <p:extLst>
      <p:ext uri="{BB962C8B-B14F-4D97-AF65-F5344CB8AC3E}">
        <p14:creationId xmlns:p14="http://schemas.microsoft.com/office/powerpoint/2010/main" val="3756500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2026-10-19T09:17:42.8030000Z</dcterms:created>
  <dcterms:modified xsi:type="dcterms:W3CDTF">2026-10-19T09:17:42.8030000Z</dcterms:modified>
</coreProperties>
</file>