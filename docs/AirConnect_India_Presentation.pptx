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COURSE PROJECT  /  2026–2027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AirConnect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0">
                <a:solidFill>
                  <a:srgbClr val="193957"/>
                </a:solidFill>
                <a:latin typeface="Times New Roman"/>
              </a:defRPr>
            </a:pPr>
            <a:r>
              <a:t>Machine Learning-Based Analysis of Indian Airport Passenger Traffic and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822191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697580"/>
                </a:solidFill>
                <a:latin typeface="Times New Roman"/>
              </a:defRPr>
            </a:pPr>
            <a:r>
              <a:t>K-Means  ·  Random Forest regression  ·  Offline research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1846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93957"/>
                </a:solidFill>
                <a:latin typeface="Times New Roman"/>
              </a:defRPr>
            </a:pPr>
            <a:r>
              <a:t>Group members: [Names / Register numbers / University emails]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Problem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65376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India: 74 operational facilities in 2014; 165 as of July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Infrastructure growth ≠ number of airports reporting passenger movements.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186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Does traffic growth appear balanced? What patterns separate airports?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9534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95344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Can a simple model beat a previous-year prediction?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Data collection and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65376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DGCA-derived national passenger movements: 2016–2025.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Airport-level source rows: 614, covering 2022–2025.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186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Arrival + departure movements; not unique passenger 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9534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95344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Validate keys and totals; pivot airport/year; transform numeric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National traffic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04</a:t>
            </a:r>
          </a:p>
        </p:txBody>
      </p:sp>
      <p:pic>
        <p:nvPicPr>
          <p:cNvPr id="7" name="Picture 6" descr="annual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64792"/>
            <a:ext cx="10789920" cy="36856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" y="582472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93957"/>
                </a:solidFill>
                <a:latin typeface="Times New Roman"/>
              </a:defRPr>
            </a:pPr>
            <a:r>
              <a:t>2016–2025 domestic passenger movements: +67.8%. A sharp decline is visible in 2020.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Machine learning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65376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Input CSV → validation → airport-year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K-Means: log traffic features → standard scaling → 3 clusters.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186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Random Forest: lag-1 and lag-2 domestic traffic → annual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9534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95344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Chronological holdout: 2024 train, 2025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K-Means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06</a:t>
            </a:r>
          </a:p>
        </p:txBody>
      </p:sp>
      <p:pic>
        <p:nvPicPr>
          <p:cNvPr id="7" name="Picture 6" descr="cluster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19072"/>
            <a:ext cx="9692640" cy="31913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78815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93957"/>
                </a:solidFill>
                <a:latin typeface="Times New Roman"/>
              </a:defRPr>
            </a:pPr>
            <a:r>
              <a:t>129 airports  |  k = 3  |  Silhouette Score = 0.6235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Random Forest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07</a:t>
            </a:r>
          </a:p>
        </p:txBody>
      </p:sp>
      <p:pic>
        <p:nvPicPr>
          <p:cNvPr id="7" name="Picture 6" descr="regress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19072"/>
            <a:ext cx="9692640" cy="33460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788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93957"/>
                </a:solidFill>
                <a:latin typeface="Times New Roman"/>
              </a:defRPr>
            </a:pPr>
            <a:r>
              <a:t>Test 2025: Random Forest MAE 451,552  |  Prior-year baseline MAE 182,476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Website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65376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Offline HTML / CSS / JavaScript; no login, server or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Overview: aviation growth indicators and historical traffic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186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Explorer: India map, year filter, airport search, CSV export.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9534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95344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ML: cluster groups, prediction comparison and method definitions.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572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572000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Methodology: reproducible steps, definitions and source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Findings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65376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Observed domestic and international traffic increased over the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K-Means distinguishes substantially different traffic groups.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21868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Prior-year forecast outperforms this Random Forest on 2025 holdout.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95344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95344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0">
                <a:solidFill>
                  <a:srgbClr val="193957"/>
                </a:solidFill>
                <a:latin typeface="Times New Roman"/>
              </a:defRPr>
            </a:pPr>
            <a:r>
              <a:t>Low traffic ≠ proven underutilisation; international activity ≠ route permission.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01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97580"/>
                </a:solidFill>
                <a:latin typeface="Times New Roman"/>
              </a:defRPr>
            </a:pPr>
            <a:r>
              <a:t>AIRCONNECT INDIA  /  MDI4001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193957"/>
                </a:solidFill>
                <a:latin typeface="Times New Roman"/>
              </a:defRPr>
            </a:pPr>
            <a:r>
              <a:t>Conclusion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18520" cy="12801"/>
          </a:xfrm>
          <a:prstGeom prst="rect">
            <a:avLst/>
          </a:prstGeom>
          <a:solidFill>
            <a:srgbClr val="D0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Vellore Institute of Technology  |  Machine Learning for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697580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56231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56231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93957"/>
                </a:solidFill>
                <a:latin typeface="Times New Roman"/>
              </a:defRPr>
            </a:pPr>
            <a:r>
              <a:t>Airport traffic is measurable, but capacity utilisation needs other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146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14600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93957"/>
                </a:solidFill>
                <a:latin typeface="Times New Roman"/>
              </a:defRPr>
            </a:pPr>
            <a:r>
              <a:t>Simpler forecast models can outperform complex alternatives.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72968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93957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7296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193957"/>
                </a:solidFill>
                <a:latin typeface="Times New Roman"/>
              </a:defRPr>
            </a:pPr>
            <a:r>
              <a:t>A transparent, reproducible offline interface supports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1091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697580"/>
                </a:solidFill>
                <a:latin typeface="Times New Roman"/>
              </a:defRPr>
            </a:pPr>
            <a:r>
              <a:t>Sources: DGCA-derived India Aviation Stats (Kubicek, 2026); Ministry of Civil Aviation; airport coordinates (Himpfen); Natural Earth.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